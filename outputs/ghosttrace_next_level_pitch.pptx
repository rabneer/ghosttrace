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db17eabe9c44b9" /><Relationship Type="http://schemas.openxmlformats.org/officeDocument/2006/relationships/extended-properties" Target="/docProps/app.xml" Id="Reb83b71ec1ed4147" /><Relationship Type="http://schemas.openxmlformats.org/officeDocument/2006/relationships/officeDocument" Target="/ppt/presentation.xml" Id="Rce0204281fa84f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76de19fda04e9a"/>
  </p:sldMasterIdLst>
  <p:notesMasterIdLst>
    <p:notesMasterId xmlns:r="http://schemas.openxmlformats.org/officeDocument/2006/relationships" r:id="Rced2426db62c49af"/>
  </p:notesMasterIdLst>
  <p:sldIdLst>
    <p:sldId xmlns:r="http://schemas.openxmlformats.org/officeDocument/2006/relationships" id="256" r:id="R7813ebcebab04078"/>
    <p:sldId xmlns:r="http://schemas.openxmlformats.org/officeDocument/2006/relationships" id="257" r:id="Rc65a72ae22e64de6"/>
    <p:sldId xmlns:r="http://schemas.openxmlformats.org/officeDocument/2006/relationships" id="258" r:id="R8740536f068e459e"/>
    <p:sldId xmlns:r="http://schemas.openxmlformats.org/officeDocument/2006/relationships" id="259" r:id="R843b5891f51e44d8"/>
    <p:sldId xmlns:r="http://schemas.openxmlformats.org/officeDocument/2006/relationships" id="260" r:id="R5ec549ec199148d7"/>
    <p:sldId xmlns:r="http://schemas.openxmlformats.org/officeDocument/2006/relationships" id="261" r:id="R6841b07d99544333"/>
    <p:sldId xmlns:r="http://schemas.openxmlformats.org/officeDocument/2006/relationships" id="262" r:id="R58b144faa76e40c5"/>
    <p:sldId xmlns:r="http://schemas.openxmlformats.org/officeDocument/2006/relationships" id="263" r:id="Rb75655a863404864"/>
    <p:sldId xmlns:r="http://schemas.openxmlformats.org/officeDocument/2006/relationships" id="264" r:id="Rc78b33e3c8e1482d"/>
    <p:sldId xmlns:r="http://schemas.openxmlformats.org/officeDocument/2006/relationships" id="265" r:id="Rdca1739b2d9748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6de19fda04e9a" /><Relationship Type="http://schemas.openxmlformats.org/officeDocument/2006/relationships/theme" Target="/ppt/theme/theme1.xml" Id="R2bcc11186f2843de" /><Relationship Type="http://schemas.openxmlformats.org/officeDocument/2006/relationships/notesMaster" Target="/ppt/notesMasters/notesMaster1.xml" Id="Rced2426db62c49af" /><Relationship Type="http://schemas.openxmlformats.org/officeDocument/2006/relationships/presProps" Target="/ppt/presProps.xml" Id="R019a9249d1ce42df" /><Relationship Type="http://schemas.openxmlformats.org/officeDocument/2006/relationships/viewProps" Target="/ppt/viewProps.xml" Id="R06ef39e260dc4f6f" /><Relationship Type="http://schemas.openxmlformats.org/officeDocument/2006/relationships/tableStyles" Target="/ppt/tableStyles.xml" Id="R1081d0e646484a55" /><Relationship Type="http://schemas.openxmlformats.org/officeDocument/2006/relationships/slide" Target="/ppt/slides/slide1.xml" Id="R7813ebcebab04078" /><Relationship Type="http://schemas.openxmlformats.org/officeDocument/2006/relationships/slide" Target="/ppt/slides/slide2.xml" Id="Rc65a72ae22e64de6" /><Relationship Type="http://schemas.openxmlformats.org/officeDocument/2006/relationships/slide" Target="/ppt/slides/slide3.xml" Id="R8740536f068e459e" /><Relationship Type="http://schemas.openxmlformats.org/officeDocument/2006/relationships/slide" Target="/ppt/slides/slide4.xml" Id="R843b5891f51e44d8" /><Relationship Type="http://schemas.openxmlformats.org/officeDocument/2006/relationships/slide" Target="/ppt/slides/slide5.xml" Id="R5ec549ec199148d7" /><Relationship Type="http://schemas.openxmlformats.org/officeDocument/2006/relationships/slide" Target="/ppt/slides/slide6.xml" Id="R6841b07d99544333" /><Relationship Type="http://schemas.openxmlformats.org/officeDocument/2006/relationships/slide" Target="/ppt/slides/slide7.xml" Id="R58b144faa76e40c5" /><Relationship Type="http://schemas.openxmlformats.org/officeDocument/2006/relationships/slide" Target="/ppt/slides/slide8.xml" Id="Rb75655a863404864" /><Relationship Type="http://schemas.openxmlformats.org/officeDocument/2006/relationships/slide" Target="/ppt/slides/slide9.xml" Id="Rc78b33e3c8e1482d" /><Relationship Type="http://schemas.openxmlformats.org/officeDocument/2006/relationships/slide" Target="/ppt/slides/slide10.xml" Id="Rdca1739b2d9748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6ef23ea003342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23a900aa4f44bf" /><Relationship Type="http://schemas.openxmlformats.org/officeDocument/2006/relationships/notesMaster" Target="/ppt/notesMasters/notesMaster1.xml" Id="Rc54c13b7effd4c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105ebde330428b" /><Relationship Type="http://schemas.openxmlformats.org/officeDocument/2006/relationships/notesMaster" Target="/ppt/notesMasters/notesMaster1.xml" Id="R7105cd1a2ee84b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e8fb6eb5ca45a2" /><Relationship Type="http://schemas.openxmlformats.org/officeDocument/2006/relationships/notesMaster" Target="/ppt/notesMasters/notesMaster1.xml" Id="Re00e52ef02e140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f57d54051f4b19" /><Relationship Type="http://schemas.openxmlformats.org/officeDocument/2006/relationships/notesMaster" Target="/ppt/notesMasters/notesMaster1.xml" Id="R25b49d5cf97c43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b30f42945041bb" /><Relationship Type="http://schemas.openxmlformats.org/officeDocument/2006/relationships/notesMaster" Target="/ppt/notesMasters/notesMaster1.xml" Id="Re89f070abfa848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3326ed0b4d4607" /><Relationship Type="http://schemas.openxmlformats.org/officeDocument/2006/relationships/notesMaster" Target="/ppt/notesMasters/notesMaster1.xml" Id="R940aac1fcd434d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951124ef4d421c" /><Relationship Type="http://schemas.openxmlformats.org/officeDocument/2006/relationships/notesMaster" Target="/ppt/notesMasters/notesMaster1.xml" Id="R47b61a466dd14d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add1bc95ac4a15" /><Relationship Type="http://schemas.openxmlformats.org/officeDocument/2006/relationships/notesMaster" Target="/ppt/notesMasters/notesMaster1.xml" Id="Rca7aea15b6814e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be2d1b309b4fbb" /><Relationship Type="http://schemas.openxmlformats.org/officeDocument/2006/relationships/notesMaster" Target="/ppt/notesMasters/notesMaster1.xml" Id="Rc997a23dc50f4b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1b6f34e8f94ab4" /><Relationship Type="http://schemas.openxmlformats.org/officeDocument/2006/relationships/notesMaster" Target="/ppt/notesMasters/notesMaster1.xml" Id="R06836080ae2749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d785152444a9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77a44ec72bc42a9" /><Relationship Type="http://schemas.openxmlformats.org/officeDocument/2006/relationships/slideLayout" Target="/ppt/slideLayouts/slideLayout2.xml" Id="R988989a5940f46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8989a5940f46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d7815b36734972" /><Relationship Type="http://schemas.openxmlformats.org/officeDocument/2006/relationships/notesSlide" Target="/ppt/notesSlides/notesSlide1.xml" Id="R307112214ec643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58370ca1f040a9" /><Relationship Type="http://schemas.openxmlformats.org/officeDocument/2006/relationships/notesSlide" Target="/ppt/notesSlides/notesSlide2.xml" Id="R6052fe512d034b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41cc5b84d94f5c" /><Relationship Type="http://schemas.openxmlformats.org/officeDocument/2006/relationships/notesSlide" Target="/ppt/notesSlides/notesSlide3.xml" Id="Rb7601fb6b64947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bab330014d458d" /><Relationship Type="http://schemas.openxmlformats.org/officeDocument/2006/relationships/notesSlide" Target="/ppt/notesSlides/notesSlide4.xml" Id="R6e792979588240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099218ee3544f5" /><Relationship Type="http://schemas.openxmlformats.org/officeDocument/2006/relationships/notesSlide" Target="/ppt/notesSlides/notesSlide5.xml" Id="R77c73cc0ad5f43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41701ab36f4ccb" /><Relationship Type="http://schemas.openxmlformats.org/officeDocument/2006/relationships/notesSlide" Target="/ppt/notesSlides/notesSlide6.xml" Id="Ra2ee767c115d4e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98d066a3884b0f" /><Relationship Type="http://schemas.openxmlformats.org/officeDocument/2006/relationships/notesSlide" Target="/ppt/notesSlides/notesSlide7.xml" Id="R619082ecd09443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14823815b0441c" /><Relationship Type="http://schemas.openxmlformats.org/officeDocument/2006/relationships/notesSlide" Target="/ppt/notesSlides/notesSlide8.xml" Id="Rf8acbbdf111e4f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dd549168384ce9" /><Relationship Type="http://schemas.openxmlformats.org/officeDocument/2006/relationships/notesSlide" Target="/ppt/notesSlides/notesSlide9.xml" Id="Rc559883033fa4a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3105d20dd14058" /><Relationship Type="http://schemas.openxmlformats.org/officeDocument/2006/relationships/notesSlide" Target="/ppt/notesSlides/notesSlide10.xml" Id="R155cc5555e134c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DC7557-8929-4007-AC7F-247C173B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77F18-DDC9-441B-A447-000ECB0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B1830-856C-48C7-9567-8A164711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E971E-6A31-4EEF-84F8-21C3E9B1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2CF3B-40A3-45A1-ABC4-EB0602D0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56D37-8A54-40DC-B161-EAE54E24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9B9DE-06D8-4E75-ACDF-D7A9B674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C91F4-A29B-4B66-80E2-AF79C59C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2E12F-E5D2-4B98-9294-D77C7750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D81A9-568B-4DB1-B8F8-14CBA0C7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823D6-DC8F-416C-ABD5-56C6D077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C4C28-5FC1-4C03-8070-31C5A8B5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B9BDB-7877-42A5-A747-59C4A575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EC9F7-270C-4E31-9543-D81189A3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FF08B-D5C5-4184-8B5D-19E8D92C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0AB58-4A40-4C6C-8A5E-CD991E54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F1F13-0181-4384-8FB5-BE1522E1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5C65D-8CED-4A49-8A4F-BA94C49A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rPr>
              <a:t>GHOSTTRACE / 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1F2F3-B914-44ED-9902-D6BBBE0D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64519-82FA-41C3-8892-177F6B98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LIVE SECURITY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12AF6-15A9-4F36-B533-F97D2CE4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38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GhostTrace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AAE58-A7A3-490D-AC6A-3F2164E9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GhostTrace exposes hidden process tampering before the host lies.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3266F9-77FE-4F83-8AE4-15C1FE20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Kernel-level process integrity monitor for rootkits, injection, DKOM, and syscall-hook anomalies.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6C9655-AD3A-4260-9221-B89B89F9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11430">
            <a:solidFill>
              <a:srgbClr val="38D9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7A14E7-3F4B-4C0A-BEC3-C0DBC40B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ASM HOOKS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13F8C-E6AD-410E-B8B9-19D43C15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71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11430">
            <a:solidFill>
              <a:srgbClr val="5FF0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D55E4-26E2-418C-8380-D6AC42C6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481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FF0A5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5FF0A5"/>
                </a:solidFill>
                <a:latin typeface="Aptos Mono"/>
                <a:ea typeface="Aptos Mono"/>
                <a:cs typeface="Aptos Mono"/>
              </a:rPr>
              <a:t>eBPF SAFE MODE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FABF0D-40E1-46E3-B9D5-398E0DFA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102EE5-2A0E-4C63-A9C3-4F86F478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481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AVX2 SCANNER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FABC0C-6709-4361-86F8-75A9B0BB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71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11430">
            <a:solidFill>
              <a:srgbClr val="9B8C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E0C787-60D2-4E14-9F17-358BD5AA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481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8C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B8CFF"/>
                </a:solidFill>
                <a:latin typeface="Aptos Mono"/>
                <a:ea typeface="Aptos Mono"/>
                <a:cs typeface="Aptos Mono"/>
              </a:rPr>
              <a:t>GO ENGINE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EFF688-30BC-47A6-AEE1-FB6B4F02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811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36"/>
          </a:solidFill>
          <a:ln xmlns:a="http://schemas.openxmlformats.org/drawingml/2006/main" w="14288">
            <a:solidFill>
              <a:srgbClr val="38D9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5707AF-CC67-4B0B-AC42-B6842940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1581150" cy="1581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19050">
            <a:solidFill>
              <a:srgbClr val="FF4D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5EFE22-50E3-471B-832B-087B8115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71600"/>
            <a:ext cx="266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382331-B8E0-4947-ABDD-D77D72BD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B0D647-6D84-4F3B-94D2-FD1206EA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FF0A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5FF0A5"/>
                </a:solidFill>
                <a:latin typeface="Aptos Display"/>
                <a:ea typeface="Aptos Display"/>
                <a:cs typeface="Aptos Display"/>
              </a:rPr>
              <a:t>&lt;3s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5D38D7-B023-447D-8726-728B7A9C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target detection window for live demo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87F29F-B871-4A83-8985-FE635F46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38D9FF"/>
                </a:solidFill>
                <a:latin typeface="Aptos Display"/>
                <a:ea typeface="Aptos Display"/>
                <a:cs typeface="Aptos Display"/>
              </a:rPr>
              <a:t>64B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B1975B-CFED-4436-8B79-E1641EC6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625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fixed telemetry frame size</a:t>
            </a:r>
          </a:p>
        </p:txBody>
      </p:sp>
    </p:spTree>
    <p:extLst>
      <p:ext uri="{BB962C8B-B14F-4D97-AF65-F5344CB8AC3E}">
        <p14:creationId xmlns:p14="http://schemas.microsoft.com/office/powerpoint/2010/main" val="12515011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85D0DB-863F-4E45-90A1-5FAF927D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19C02-DE96-4861-8912-4DB49DB5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4207C-4306-4436-9CC8-EFA8116B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F45E9-D47A-4F25-B144-F1D1938A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07B07-874A-4C87-8770-3A4880F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3809F-C75A-4496-811A-D166DEB8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238D8-5C6B-4FD3-9606-20E6927B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1549C-0D4B-4CC9-AE5F-DB0742CD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8F7B2-7CC0-411A-A57B-670D356B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A735A-0282-42B6-B627-DF97AD9B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A6049-8A85-4352-852C-34C4B344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15E0D-6709-4AA2-B585-1FACD659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B8949-1A5A-49E3-A0C2-190015BB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03901-0108-4D0E-B234-99A506B9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40E01-3D2E-4CED-A72A-0F93386F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0B745-942B-4EFD-A3B1-7FC5DAB5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B9DB6-DB2F-4730-B7A3-772BECA5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0BF90-025C-4B78-B4F6-8E384C26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rPr>
              <a:t>GHOSTTRACE /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295E1-1A59-4EBA-9F9F-09DC9BE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2689E-B1B2-4C74-B763-D81F4298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452C8-917D-4192-9242-30E11B48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0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Modern malware does not need to be loud; it only needs to disappear.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7C23C-0A2C-48A9-A70B-3E638102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E5CA5-2011-41E2-93C1-795FBBC0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0B4DB-8BB4-43F1-B5E0-7F472B4A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D6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4D6D"/>
                </a:solidFill>
                <a:latin typeface="Aptos Mono"/>
                <a:ea typeface="Aptos Mono"/>
                <a:cs typeface="Aptos Mono"/>
              </a:rPr>
              <a:t>PROCESS INJECTION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FF640A-B853-4FD8-B72C-7B66028D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Payload lives inside a trusted PID.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F50EF-E8AC-4FFA-865D-0B5B1C71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480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B60BE8-E70F-4EFF-99FB-A3414365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4805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1EEBF-C38A-454D-A7EC-18ABDCD9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04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DKOM HIDING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345FA-86F0-4EA2-94BB-31ACCF10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Kernel object exists, /proc view lies.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9741EE-A548-4C7C-92AA-8ECDE60B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69D13E-A7E8-4170-A011-BEFD5146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CFF"/>
          </a:solidFill>
          <a:ln xmlns:a="http://schemas.openxmlformats.org/drawingml/2006/main" w="0">
            <a:solidFill>
              <a:srgbClr val="9B8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66ACC0-97B2-423B-A6F9-65ADCB2A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8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B8CFF"/>
                </a:solidFill>
                <a:latin typeface="Aptos Mono"/>
                <a:ea typeface="Aptos Mono"/>
                <a:cs typeface="Aptos Mono"/>
              </a:rPr>
              <a:t>SYSCALL HOOKING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D79355-D864-480E-A4D4-075C2970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8620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The sensor reads a modified truth.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30D550-7D62-45AB-8F44-FFB06D9E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EFFE8B-503F-43C6-98C4-893C6E5C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62C8BA-976A-48A6-97D1-1A4650DD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004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SLEEPING SHELLCODE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0A17A8-1E8F-4486-857E-1A486693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8620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Timing gaps hide bursts of behavior.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7D8EAE-22BC-46F9-AE88-3F62B209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Judges should feel the pain instantly: normal tools can be right technically and still miss the compromise.</a:t>
            </a:r>
          </a:p>
        </p:txBody>
      </p:sp>
    </p:spTree>
    <p:extLst>
      <p:ext uri="{BB962C8B-B14F-4D97-AF65-F5344CB8AC3E}">
        <p14:creationId xmlns:p14="http://schemas.microsoft.com/office/powerpoint/2010/main" val="13468560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1EE2BB-54F5-4D89-B8F6-0B136CC4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356CA-0BFE-4463-AEC2-07B1CF27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69969-373E-49C5-905B-8A67AA3C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9B62C-55DD-43E0-8B55-CA656879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6FB7C-BBE0-46E1-8DFC-50ECE4E4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0A55B-12F8-41E0-88EF-FA59731E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AC765-477D-4194-A6CC-A0061B21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C13C8-0C7E-4777-A8CC-5F18E64B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52ED2-5C8D-4011-9BE3-0D93854D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9413C-E83C-4480-AA04-CD39F8C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9D90B-D772-4C8C-BD70-77D0BC6D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7B337-9E98-4BC5-BEEF-64C74884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9ACDE-6046-439A-B60D-8D68C768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130E7-ECFC-484B-9452-E4E55C11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D19B1-0553-405C-A73F-68A1C895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096DE-D4B9-4C23-A2A0-6EE69808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4D12F-7660-4618-8154-D0722961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AE106-6F32-4521-82E5-0BC83235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rPr>
              <a:t>GHOSTTRACE / 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956FD-D2B4-4E78-BAD4-1CD90131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7196F-B1A5-4CCB-B48B-C3847502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THESIS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2DC23-95E3-4EF8-BC1B-664A55F4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66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Trust the cross-check, not one sensor.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3B49A-C0C5-4822-96AD-CE3921B7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GhostTrace compares kernel telemetry, /proc visibility, executable memory, and process lineage to catch contradictions.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30C96-F5AC-4EA5-8C57-3AE90BB8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200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13335">
            <a:solidFill>
              <a:srgbClr val="38D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BC44C-8031-48F4-BA50-EFBA2C8B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288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HOOK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32BA4-E98C-43FE-ADCB-9B80062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621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5CD7A6-B661-4238-AAF6-B754A8C2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200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13335">
            <a:solidFill>
              <a:srgbClr val="5FF0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3EE009-2ED7-4A2D-BBF4-1F39DD22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288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FF0A5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5FF0A5"/>
                </a:solidFill>
                <a:latin typeface="Aptos Mono"/>
                <a:ea typeface="Aptos Mono"/>
                <a:cs typeface="Aptos Mono"/>
              </a:rPr>
              <a:t>eBPF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19309-C78C-4179-A2AB-6CB464E2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62175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06C24-3ACE-4275-9BE5-4FE905D0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200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13335">
            <a:solidFill>
              <a:srgbClr val="FFD1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C2968B-A081-4137-B9D7-7F8ECBC4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528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/proc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DB5711-5F9B-40B0-85E2-BEA9F025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217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48B50A-CA2D-4A96-BA5A-3DAE8948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1200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13335">
            <a:solidFill>
              <a:srgbClr val="FF4D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27E626-78D5-4F8B-A57F-D3A0C4C7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768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4D6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4D6D"/>
                </a:solidFill>
                <a:latin typeface="Aptos Mono"/>
                <a:ea typeface="Aptos Mono"/>
                <a:cs typeface="Aptos Mono"/>
              </a:rPr>
              <a:t>MEM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A738C-1F93-43D7-BAC3-08B6576A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C376BC-A13E-45A3-8D46-955CEB11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1200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13335">
            <a:solidFill>
              <a:srgbClr val="9B8C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1148FC-A6D9-4426-A227-F0D8D35A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768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B8C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9B8CFF"/>
                </a:solidFill>
                <a:latin typeface="Aptos Mono"/>
                <a:ea typeface="Aptos Mono"/>
                <a:cs typeface="Aptos Mono"/>
              </a:rPr>
              <a:t>GRAPH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A0DC73-F2A5-4899-BEE7-9686C332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337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5C9E29-98B4-4231-9436-F04D804D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9555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36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2B3056-6F11-495D-81D7-9B76FFB9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6705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8F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4F8FB"/>
                </a:solidFill>
                <a:latin typeface="Aptos Mono"/>
                <a:ea typeface="Aptos Mono"/>
                <a:cs typeface="Aptos Mono"/>
              </a:rPr>
              <a:t>CONTRADICTION SCORE</a:t>
            </a:r>
          </a:p>
        </p:txBody>
      </p:sp>
    </p:spTree>
    <p:extLst>
      <p:ext uri="{BB962C8B-B14F-4D97-AF65-F5344CB8AC3E}">
        <p14:creationId xmlns:p14="http://schemas.microsoft.com/office/powerpoint/2010/main" val="13183579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038A29-127D-48DC-B83A-7E042248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7803E-C81E-4274-AC7F-B8732854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2A19E-2B53-4443-9C7D-6761C651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0E48B-B31D-4EDE-BF2E-F6A64277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2B635-1944-4CF4-B1A8-54B0CCDA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B26EE-B6BE-4009-A01C-3B3279E8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A0396-C382-4A8D-AA06-319A11BB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61671-34F0-4F2B-9513-AFF3B1A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FCE03-D750-4C1E-BDE7-5482F6C6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35B8C-084F-4959-AA49-A597069E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4E663-5F51-41D7-AFCC-A0F844DB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44DC0-891B-4AE4-BCEF-B8436426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CCEEE-D491-408E-BB83-54BEE270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452C7-5751-4C3C-AD8F-82ACAB17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0340D-A5E9-4E3A-8900-A8C9825A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C5A90-C3E4-4AD1-8793-303C6785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3CB7B-FA94-4AF9-A94E-8E97723C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A78C9-5DE3-424D-8F71-428F7187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rPr>
              <a:t>GHOSTTRACE / 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BD36B-D357-4A80-83C3-2C5F8040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DF5C7-1E2B-4952-BAC4-1E6671E0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13712-1C82-40BA-953A-EE0051E4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0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The pipeline is built like a flight recorder for process behavior.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B43D5-2010-4B62-9FF8-221E829B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Small fixed frames flow through a lock-free ring buffer into a scoring graph and real-time operator UI.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E900B-A8A9-4EC1-9FCD-7F1D2E4C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790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1BA6D-1766-4435-8BDC-0EAD4B49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E8D50E-F717-4ABF-873E-88E7A604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ASM / eBPF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B15740-F2DB-48B6-8BCA-81425231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1466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execve, mmap, mprotect, syscall timing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C3D88B-30CD-40B4-A01D-EA2AB670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100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9DED15-35EA-4B10-9490-A13EE50F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5287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E5A2FE-FF53-4CFB-B701-767F672C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29000"/>
            <a:ext cx="1790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F1E0BE-B69E-4713-8CD4-160F8197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290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F0A5"/>
          </a:solidFill>
          <a:ln xmlns:a="http://schemas.openxmlformats.org/drawingml/2006/main" w="0">
            <a:solidFill>
              <a:srgbClr val="5FF0A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B01057-AAB0-4D0D-ADA8-928E5BA1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5814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F0A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FF0A5"/>
                </a:solidFill>
                <a:latin typeface="Aptos Mono"/>
                <a:ea typeface="Aptos Mono"/>
                <a:cs typeface="Aptos Mono"/>
              </a:rPr>
              <a:t>64B 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68F4ED-9012-43B9-BB26-8C53AB4C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867150"/>
            <a:ext cx="1466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lock-free SPSC event frames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391884-C831-4038-A386-F91CB239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0100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85638D-D455-4BDF-A49C-30E15343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95287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F0A5"/>
          </a:solidFill>
          <a:ln xmlns:a="http://schemas.openxmlformats.org/drawingml/2006/main" w="0">
            <a:solidFill>
              <a:srgbClr val="5FF0A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6712CD-3EAD-4C64-916B-5E2C7297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1790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B488A4-6115-4109-8218-330913C4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7AE6CB-9369-492F-9432-48AC3C89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814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GO GRAPH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95D3C2-DE08-4C82-92FD-490D1672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67150"/>
            <a:ext cx="1466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lineage, Welford rates, DKOM checks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02DFEF-B74E-41B4-851B-7B3CEE21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00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1ECAF5-D44F-40DC-9CC6-AE52CC2C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5287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68D8EA-1542-4537-8BF1-895BF503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29000"/>
            <a:ext cx="1790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619923-A7D2-4BF5-901B-916B8C5A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290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BF4DAE-F70A-4761-A33D-4A1AB2BD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5814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D6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4D6D"/>
                </a:solidFill>
                <a:latin typeface="Aptos Mono"/>
                <a:ea typeface="Aptos Mono"/>
                <a:cs typeface="Aptos Mono"/>
              </a:rPr>
              <a:t>SCANNER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E6F846-8B4F-432A-AE5F-9B0841BB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67150"/>
            <a:ext cx="1466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AVX2 shellcode signature pass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AB0AC3-C5DB-4235-971A-43A53897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0100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0091BF-560E-4798-A24B-989BFED2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95287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0B939A-CA3C-49FC-BE76-4E50B6B4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29000"/>
            <a:ext cx="1790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9923BB-E5F4-418A-9351-F2D3324F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290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CFF"/>
          </a:solidFill>
          <a:ln xmlns:a="http://schemas.openxmlformats.org/drawingml/2006/main" w="0">
            <a:solidFill>
              <a:srgbClr val="9B8C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524FDC-CCE3-463D-B613-346A0090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5814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8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B8CFF"/>
                </a:solidFill>
                <a:latin typeface="Aptos Mono"/>
                <a:ea typeface="Aptos Mono"/>
                <a:cs typeface="Aptos Mono"/>
              </a:rPr>
              <a:t>TUI / SIEM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B10B29-9839-4CC5-BEE7-22A56DC2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867150"/>
            <a:ext cx="1466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operator view + signed webhooks</a:t>
            </a:r>
          </a:p>
        </p:txBody>
      </p:sp>
    </p:spTree>
    <p:extLst>
      <p:ext uri="{BB962C8B-B14F-4D97-AF65-F5344CB8AC3E}">
        <p14:creationId xmlns:p14="http://schemas.microsoft.com/office/powerpoint/2010/main" val="14186653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6B91CB-93C9-4261-84E6-6921E2C8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C00F7-E0CF-40DD-B7F1-D2BD4097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94523-AA95-4382-B8E1-F5FAFF21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28240-AE20-40EB-9F13-00008D3E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613B8-3B84-45B7-83A4-47FA5298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52FB9-1394-44EF-85BA-FB2E0338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CD4A1-31A6-472B-AFF6-0675A0B3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6FDD5-0CA6-4810-9555-6A9D5D2A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EB7B1-C850-4605-AAEA-0D0763EE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EEC76-40A5-4A91-BC00-AD5764E4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0499E-6CF2-44C2-926E-B22354BE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D1851-2EF6-498B-9939-C6FE4AA9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35D87-18ED-49DF-9DAD-B91DC0E8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92650-DAD1-48EB-BB96-934A8D94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0D133-0DDC-4007-9D42-E89990DD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8A730-7A65-4C59-B778-3C68A20A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1D034-8092-4FF6-84B0-DC3FC70D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4B71B-6789-448D-B795-4C0C9481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rPr>
              <a:t>GHOSTTRACE / 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D6FFA-BBC5-48D2-B6F9-6655D80A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E7F94-46CE-4105-8A7A-B11B29D3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DETECTION 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B0980-88B4-4717-BC73-316D2106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429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Five signals combine into one explainable risk score.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9C218-A35F-4EFA-9DEA-41D633C5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Every alert carries the PID, detail, score, and operator mitigation path.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F8E7E-4111-40E4-A5E5-948C679F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Orphan PID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DF1F8-A159-4DB9-B5A1-63505224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0">
            <a:solidFill>
              <a:srgbClr val="101C2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6D6CA-26A4-4924-A1A9-D232D6ED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71E450-F606-4138-9C3F-8DE789CF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Hollow proc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704D25-04DB-4DCB-BDF9-C6CB6F7D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52875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0">
            <a:solidFill>
              <a:srgbClr val="101C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09FBC-4048-40DC-B31F-5258D8A8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52875"/>
            <a:ext cx="38633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65FBB-82F2-4866-AFAC-4CD4606D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Syscall spike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86486B-3A66-4D8B-80F3-9B55B740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72000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0">
            <a:solidFill>
              <a:srgbClr val="101C2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3A4368-425F-455F-AF62-BB5B0BA0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72000"/>
            <a:ext cx="316992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6BC778-2A26-4087-8450-BE205916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DKOM mismatch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42DA9F-0CBA-4D31-A192-0B7AD6B9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91125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0">
            <a:solidFill>
              <a:srgbClr val="101C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73DA68-6453-450D-B489-390B18C7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91125"/>
            <a:ext cx="445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CFF"/>
          </a:solidFill>
          <a:ln xmlns:a="http://schemas.openxmlformats.org/drawingml/2006/main" w="0">
            <a:solidFill>
              <a:srgbClr val="9B8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11AF97-798B-483F-813F-8B74F13F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Timing gap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0C3021-341D-4358-BAFA-8A56EA89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810250"/>
            <a:ext cx="495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0">
            <a:solidFill>
              <a:srgbClr val="101C2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AA6C74-E9A0-42F2-A038-676E685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810250"/>
            <a:ext cx="277368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F0A5"/>
          </a:solidFill>
          <a:ln xmlns:a="http://schemas.openxmlformats.org/drawingml/2006/main" w="0">
            <a:solidFill>
              <a:srgbClr val="5FF0A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D1153B-377C-479E-9417-C20866F9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813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36"/>
          </a:solidFill>
          <a:ln xmlns:a="http://schemas.openxmlformats.org/drawingml/2006/main" w="19050">
            <a:solidFill>
              <a:srgbClr val="FF4D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0E018B-141C-4003-9480-3442D3DD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1657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F4D6D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4D6D"/>
                </a:solidFill>
                <a:latin typeface="Aptos Display"/>
                <a:ea typeface="Aptos Display"/>
                <a:cs typeface="Aptos Display"/>
              </a:rPr>
              <a:t>91.3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52BAF6-8BA2-493B-BB5F-59DB5111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672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0A4B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90A4B8"/>
                </a:solidFill>
                <a:latin typeface="Aptos Mono"/>
                <a:ea typeface="Aptos Mono"/>
                <a:cs typeface="Aptos Mono"/>
              </a:rPr>
              <a:t>CRITICAL SCORE</a:t>
            </a:r>
          </a:p>
        </p:txBody>
      </p:sp>
    </p:spTree>
    <p:extLst>
      <p:ext uri="{BB962C8B-B14F-4D97-AF65-F5344CB8AC3E}">
        <p14:creationId xmlns:p14="http://schemas.microsoft.com/office/powerpoint/2010/main" val="6905554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4D3E04-2294-4EE1-8CB9-D30E501B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8DD4A-7034-4740-B14E-4596EAD3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724CE-6764-4377-B8ED-A791F819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9A6C7-66BD-4187-A089-0F5D5D7D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7D4BB-BAD1-4B00-9691-D4121644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256EE-4460-45EC-96A2-838736F1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C8EDD-97A8-457F-B3F7-BDB2D5B3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5CF05-FDA7-4390-9A0E-C4A90789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6286C-E703-476F-8530-A17CD5FF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3A6FB-614F-4D8E-9381-11329CA0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61A96-9712-4F89-B689-3D1B3031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AF818-4DBE-4F6C-8ED2-5A60EEFE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F7D7B-92C1-4174-A054-64454DF0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2A6BA-82C5-416E-B029-525CF812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E361C-8207-443D-8244-F99F5CEB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6999E-FEBE-476B-8897-A899220E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13019-A778-4C20-B0F0-615C1F3B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31E3C-C276-4D2C-85AD-93C24D54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rPr>
              <a:t>GHOSTTRACE / 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33987-217C-488A-A2FB-C9EC66EA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2D29A-2DB0-48AE-9103-98551C4E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MEMORY SCAN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F3F3E-F9F8-4AD0-9B6E-C1B1B783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28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Executable anonymous memory gets scanned where shellcode actually lives.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71CA5-57FA-481F-B87B-99D70E51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AVX2-assisted matching checks high-signal payload signatures without dragging the event pipeline.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DE2CB1-D52A-4781-AFF4-F9037C16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622"/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551725-8139-4CF4-A74D-2024744F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4F8FB"/>
                </a:solidFill>
                <a:latin typeface="Aptos Mono"/>
                <a:ea typeface="Aptos Mono"/>
                <a:cs typeface="Aptos Mono"/>
              </a:rPr>
              <a:t>0x7f10_0000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9B7D4F-F8A5-4CD0-B7ED-EFC8E969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71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r-xp anon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D31206-DB4B-4BFE-A757-6F198FDE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NOP sled + syscall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2D90FB-2FE8-4C2E-B033-32514C91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71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4D6D"/>
                </a:solidFill>
                <a:latin typeface="Aptos"/>
                <a:ea typeface="Aptos"/>
                <a:cs typeface="Aptos"/>
              </a:rPr>
              <a:t>SHELLCODE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A325ED-B78B-4F0D-8F63-097150D2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C1283D-FFA5-4F5C-A2A7-3E73A1F3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4F8FB"/>
                </a:solidFill>
                <a:latin typeface="Aptos Mono"/>
                <a:ea typeface="Aptos Mono"/>
                <a:cs typeface="Aptos Mono"/>
              </a:rPr>
              <a:t>0x7f12_4000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E191D3-82E4-4A4F-8ADF-99C368A4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243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r--p 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7DFEF6-C7E1-4011-AD05-08B47A2E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F8715E-BCCE-4A01-87F0-7949379D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243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IGNORE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D77F71-4556-4B98-A1FF-D73EC279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622"/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462472-C7BC-4A39-B8C1-612BC81E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4F8FB"/>
                </a:solidFill>
                <a:latin typeface="Aptos Mono"/>
                <a:ea typeface="Aptos Mono"/>
                <a:cs typeface="Aptos Mono"/>
              </a:rPr>
              <a:t>0x7f18_a000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20EB0E-9CAC-419B-971B-CE46882B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rwxp anon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A990EA-4DC9-4B1C-AF88-00CB4BF5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/bin/sh marker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807CB1-500D-408B-811F-B63C4EE1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76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4D6D"/>
                </a:solidFill>
                <a:latin typeface="Aptos"/>
                <a:ea typeface="Aptos"/>
                <a:cs typeface="Aptos"/>
              </a:rPr>
              <a:t>HIT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322B2A-F147-42E5-90A2-F721BD25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622"/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A26DAB-F78B-4ABD-B375-52DD22AF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4F8FB"/>
                </a:solidFill>
                <a:latin typeface="Aptos Mono"/>
                <a:ea typeface="Aptos Mono"/>
                <a:cs typeface="Aptos Mono"/>
              </a:rPr>
              <a:t>0x7f22_c000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606635-EF16-4DE2-827F-FD7473FE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29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r-xp anon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6B990C-9DAF-42E3-B67C-B32FACEE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beacon header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25D217-834B-4BFF-AF2A-D96505AE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29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4D6D"/>
                </a:solidFill>
                <a:latin typeface="Aptos"/>
                <a:ea typeface="Aptos"/>
                <a:cs typeface="Aptos"/>
              </a:rPr>
              <a:t>HIT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3FA789-F0E0-41BF-9326-85F2EE5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38D9FF"/>
                </a:solidFill>
                <a:latin typeface="Aptos Display"/>
                <a:ea typeface="Aptos Display"/>
                <a:cs typeface="Aptos Display"/>
              </a:rPr>
              <a:t>4x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440C8D-4EC1-4E21-B8FC-EE3DA3E4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worker pool keeps scanning off the main event path</a:t>
            </a:r>
          </a:p>
        </p:txBody>
      </p:sp>
    </p:spTree>
    <p:extLst>
      <p:ext uri="{BB962C8B-B14F-4D97-AF65-F5344CB8AC3E}">
        <p14:creationId xmlns:p14="http://schemas.microsoft.com/office/powerpoint/2010/main" val="2844464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8F5C53-5D19-4CE3-9F37-415E7C6C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46372-CD3E-40CE-B38A-1C8468EB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D7AF5-4A85-460F-8032-9194620C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779BC-1FFA-4051-B787-7A5C8BCD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EB63C-0E42-4F81-9C99-0659EF86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D2C59-7168-4289-A43A-E6122638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6031B-7845-4165-B27B-89514130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0817B-1246-440F-A3D4-8895EDD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2C913-A9B2-4642-876C-F9B08066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C7168-418F-4E46-928E-E92F38C1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31FC6-4B3E-4F3E-8489-BC2AA8B3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BB1F6-79B0-4B51-8CDE-F9A6F125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B867E-D2D0-45AF-B53F-FDEC1964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C91C6-5463-4ABB-811D-C555E9F3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4E08F-6CED-4554-9706-B062ADA8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F5239-BCE0-4DCF-8C1F-6F7CD8E0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16020-87B6-47B6-B16D-99DE5679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10EF2-DF31-4956-8C42-8784B615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rPr>
              <a:t>GHOSTTRACE / 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603DE-848B-4660-B651-2330985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F72B2-306A-44D5-8B9C-9A8583DB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DEMO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1C7BA-553A-422C-A89B-AE37F452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The hackathon demo is a clean 30-second story.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9763B-1831-45E4-A7DF-5852C3B8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Start GhostTrace, launch benign executable-memory probe, watch alert stream, inspect lineage, export JSON.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797D3-E7EF-40E8-9D87-00593FA2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36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51D5B6-83F7-4CDE-9693-5A0AA6CC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719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00s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84066-500B-47AF-A985-BA36135D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sudo ghosttrace --mode=ebpf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27C44-BAAD-4CA0-95F2-F0297E04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0532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457BF-0B85-42A1-B43B-C93158AA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714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36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FBD450-A1C9-45AC-AB6D-678112B5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719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08s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03ED5-BFDF-4AD9-8CE1-7E6CDA05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816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launch benign exec-memory probe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F39BE5-9EB5-47DA-951A-9DE88C19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50532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6D3C09-0908-4B92-A651-2786C6F7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36"/>
          </a:solidFill>
          <a:ln xmlns:a="http://schemas.openxmlformats.org/drawingml/2006/main" w="19050">
            <a:solidFill>
              <a:srgbClr val="FF4D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CB3E7-8C71-4AC1-826A-1CFCF025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1719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4D6D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FF4D6D"/>
                </a:solidFill>
                <a:latin typeface="Aptos Mono"/>
                <a:ea typeface="Aptos Mono"/>
                <a:cs typeface="Aptos Mono"/>
              </a:rPr>
              <a:t>12s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7A704E-9DBC-434C-95D9-32AB1345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816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TUI alert turns CRITICAL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8C78CE-F3CF-4B97-B22F-A0794844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0532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457D4C-7EB6-4D93-A351-2D542854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714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36"/>
          </a:solidFill>
          <a:ln xmlns:a="http://schemas.openxmlformats.org/drawingml/2006/main" w="19050">
            <a:solidFill>
              <a:srgbClr val="5FF0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161748-ACE6-4B11-94F9-48FC0DC7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719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FF0A5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5FF0A5"/>
                </a:solidFill>
                <a:latin typeface="Aptos Mono"/>
                <a:ea typeface="Aptos Mono"/>
                <a:cs typeface="Aptos Mono"/>
              </a:rPr>
              <a:t>20s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6E0CCA-37A7-4259-A391-F7C4A407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816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inspect lineage + export JSON</a:t>
            </a:r>
          </a:p>
        </p:txBody>
      </p:sp>
    </p:spTree>
    <p:extLst>
      <p:ext uri="{BB962C8B-B14F-4D97-AF65-F5344CB8AC3E}">
        <p14:creationId xmlns:p14="http://schemas.microsoft.com/office/powerpoint/2010/main" val="18206194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8024CC-7D82-46D3-88DD-A4057AD1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7631A-D682-4864-BE58-04834623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D334E-6A83-4EB0-BEC9-D567C408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17F9F-3B20-403A-943A-32A5B5F1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09A99-E1F2-4D10-B508-7F9BE831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69390-B635-4AEE-9782-4689667A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36C9E-1855-43C3-8C4A-74B676D8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3FD4F-D655-44B5-B943-ABC4D7C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49C65-641B-4FBA-9627-ED149168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DB38B-3674-474D-B654-DB54151A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65C34-9F6F-424B-8CDF-2B4B97B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2C470-D5E5-46DD-AD66-AF879272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E8CEF-E130-41E4-B997-EBA8D83B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CBA2D-70B5-4C76-A7BC-29274C27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BA0B8-EFAA-4BED-8D91-F3BC6E23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661F1-995E-490E-963D-A1A17FBB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E294B-AD58-4F72-B6A7-91A5DAC4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185AF-7E55-4466-BC25-BA6D4A9C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rPr>
              <a:t>GHOSTTRACE / 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EF937-A439-4D1F-A9BE-7685A7E9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E7EF8-2E07-4BD6-BFEA-03F17F08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WHY IT WINS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D9E9B-2897-4434-8D12-F479C844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00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It feels like a real security product, not a toy detector.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C7691-B1C0-40A5-940D-486DE091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1CCAA-5795-42E9-AA2E-95981527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7AE50-EC11-48EA-BB53-E3A98125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PROOF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3649A-1240-4229-92EE-5A5202C6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4152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Graceful shutdown restores native hooks.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99E127-7270-446C-9613-34E8152C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7CD2A7-DC6B-4F54-85D0-AF93D88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F0A5"/>
          </a:solidFill>
          <a:ln xmlns:a="http://schemas.openxmlformats.org/drawingml/2006/main" w="0">
            <a:solidFill>
              <a:srgbClr val="5FF0A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72327-72C9-44FC-9954-2995E425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F0A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FF0A5"/>
                </a:solidFill>
                <a:latin typeface="Aptos Mono"/>
                <a:ea typeface="Aptos Mono"/>
                <a:cs typeface="Aptos Mono"/>
              </a:rPr>
              <a:t>PROOF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953A3-CCC8-4571-BF27-CE71895E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95650"/>
            <a:ext cx="4152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eBPF mode works as the safe production path.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8C0E80-05FD-4CAE-87C5-ECA29CDB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4A22B0-53B5-4CBD-9ED4-B6802E43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3580A9-5CF5-4BDF-834F-230D8669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PROOF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2301D7-C371-4873-BAAC-C2D89D64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4152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Webhook signatures make SIEM ingestion credible.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B645D9-8FFF-4178-B7CF-3E817886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29445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14BA3A-1E93-4CBC-A1D8-01A6AB79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CFF"/>
          </a:solidFill>
          <a:ln xmlns:a="http://schemas.openxmlformats.org/drawingml/2006/main" w="0">
            <a:solidFill>
              <a:srgbClr val="9B8C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250A88-8A83-4A18-A065-340D23D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865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8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B8CFF"/>
                </a:solidFill>
                <a:latin typeface="Aptos Mono"/>
                <a:ea typeface="Aptos Mono"/>
                <a:cs typeface="Aptos Mono"/>
              </a:rPr>
              <a:t>PROOF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639C5C-7F95-4F6E-AEB7-0C669893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24400"/>
            <a:ext cx="4152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TUI gives judges an instant visual payoff.</a:t>
            </a:r>
          </a:p>
        </p:txBody>
      </p:sp>
    </p:spTree>
    <p:extLst>
      <p:ext uri="{BB962C8B-B14F-4D97-AF65-F5344CB8AC3E}">
        <p14:creationId xmlns:p14="http://schemas.microsoft.com/office/powerpoint/2010/main" val="5279390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7073E1-4031-4CDB-8BA6-DFD1645D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3BCFA-3B9E-4C95-AE49-4987B7FD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7ED5A-4813-4F48-B3A8-C76B9786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1A827-2056-49D3-B319-ECB6CD86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46118-13ED-4DFE-946C-4E968D98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657AE-B61B-4A12-9DB7-379013F8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BCF76-A77E-429F-813D-F67CAFFF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2A336-9087-4BC7-B3AB-D84FF80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F240B-B310-44B8-B10C-4481D72A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8D804-ECEB-4ED9-ADF8-C6A5DA02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A8A9A-0425-446C-9F08-5A04483B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71B6B-D9CF-41C1-94E9-A20D72D2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9ABBD-BA1D-4395-BDB3-D1018FF2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87504-A969-4ECF-ABD2-6E5B4F83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DFD20-4ABC-49B9-A59C-94699921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4BB7A-F1C9-48F0-99E5-4D0B94B6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4DF33-A2DD-477D-AB7F-F2C99E93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4ADBE-5125-4577-82B4-BE9C76A4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rPr>
              <a:t>GHOSTTRACE / 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BADAF-D23D-4DB8-B6B5-7433AD75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D6920A-12C9-45C4-AE98-232CEA9A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E3757-4044-40EC-B774-483D4FEF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96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From hackathon build to deployable host sensor.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594E10-5D8E-43AD-AF46-59D2446D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The core is modular enough to grow into fleet policy, incident replay, and kernel-module research mode.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83A19-95BB-4ACD-8A81-F0B54094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14288">
            <a:solidFill>
              <a:srgbClr val="38D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2606E4-3D4A-4841-B4F9-76CCA944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NOW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D47E6A-28F4-4497-97BD-F2A1C13E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single-host demo + signed alerts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74D253-70C2-4E27-8FC9-2F5C150C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14288">
            <a:solidFill>
              <a:srgbClr val="5FF0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84718-808B-45BD-95FD-E6D04255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62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F0A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FF0A5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8CC068-8A36-4691-A1B2-645742BD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815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incident replay + policy packs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A045E6-B5A0-405B-B337-355860E5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8"/>
          </a:solidFill>
          <a:ln xmlns:a="http://schemas.openxmlformats.org/drawingml/2006/main" w="14288">
            <a:solidFill>
              <a:srgbClr val="FFD1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4DFBBC-770D-4C20-94FE-80620461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LATER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6C0D46-EF66-4F0C-A496-E250B3CB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815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fleet sensor + kernel module research</a:t>
            </a:r>
          </a:p>
        </p:txBody>
      </p:sp>
    </p:spTree>
    <p:extLst>
      <p:ext uri="{BB962C8B-B14F-4D97-AF65-F5344CB8AC3E}">
        <p14:creationId xmlns:p14="http://schemas.microsoft.com/office/powerpoint/2010/main" val="295367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8D91BB-4023-4871-A98F-C4D5BB01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628D1-4B5F-4405-B8ED-97899A26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710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1BA33-36BB-4869-9A91-FEC59661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86ADF-52A4-4B31-9222-9B9410BB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6B224-1B18-4434-A8A6-3F31070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C457D-F429-45DE-B6EB-0B6BB923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41326-49C9-4824-BBD3-23B173F4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1AC9E-5DAE-47A1-9BEF-BD3F53B7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E50A9-58C5-46DB-A49D-FE7AD60D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4EB47-2537-4B8D-B0FE-9442606A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FCCC6-E48B-4029-9C4E-71C133BD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CEAB8-FABA-430C-B7B3-0A24CE5B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F8209-ACC4-44A0-B92F-273F3043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0901C-1462-4C7D-8D9E-D33C56B8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AB17F-D824-4EE2-87B3-42BF51B9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2CA25-0B14-40A8-8F2F-35B6A6A0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FD4BD-17BF-4797-BCDB-9CC640E9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389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A"/>
          </a:solidFill>
          <a:ln xmlns:a="http://schemas.openxmlformats.org/drawingml/2006/main" w="0">
            <a:solidFill>
              <a:srgbClr val="294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23165-41F6-41B1-BD13-C5171F2B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87085"/>
                </a:solidFill>
                <a:latin typeface="Aptos Mono"/>
                <a:ea typeface="Aptos Mono"/>
                <a:cs typeface="Aptos Mono"/>
              </a:rPr>
              <a:t>GHOSTTRACE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8D9EA-C515-439D-8AD0-037684BF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D624C-E9B9-4E65-BB13-6C242B1E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CLOSE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36ECC-94BC-4057-8DE0-B50661AB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33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GhostTrace turns invisible process compromise into evidence you can act 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544D07-F2C5-4B15-BBCA-391DC711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Ask: approve a live demo slot, run it on a Linux VM, and judge it on detection speed plus explainability.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373BF-E856-40B5-97D7-76569292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6"/>
          </a:solidFill>
          <a:ln xmlns:a="http://schemas.openxmlformats.org/drawingml/2006/main" w="13335">
            <a:solidFill>
              <a:srgbClr val="38D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96103-C0CF-4002-84ED-353D85F8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Judge it on speed, proof, and operator clarity.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C3F40-F962-4A65-A3F2-47DD9C00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B8C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9B8CFF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179E0-6318-4406-B267-C19BF3F2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387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slides built for a crisp 4-minute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F9FA7-872A-4D08-B04F-4F790A13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624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FF0A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5FF0A5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BC995-EBDE-4FA3-AD00-F7B780D8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387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4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live demo that makes the idea real</a:t>
            </a:r>
          </a:p>
        </p:txBody>
      </p:sp>
    </p:spTree>
    <p:extLst>
      <p:ext uri="{BB962C8B-B14F-4D97-AF65-F5344CB8AC3E}">
        <p14:creationId xmlns:p14="http://schemas.microsoft.com/office/powerpoint/2010/main" val="1581325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2026-05-29T03:54:15.0590000Z</dcterms:created>
  <dcterms:modified xsi:type="dcterms:W3CDTF">2026-05-29T03:54:15.0590000Z</dcterms:modified>
</coreProperties>
</file>